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3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70" r:id="rId7"/>
    <p:sldId id="264" r:id="rId8"/>
    <p:sldId id="265" r:id="rId9"/>
    <p:sldId id="266" r:id="rId10"/>
    <p:sldId id="267" r:id="rId11"/>
    <p:sldId id="268" r:id="rId12"/>
    <p:sldId id="260" r:id="rId13"/>
    <p:sldId id="261" r:id="rId14"/>
    <p:sldId id="262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2CD"/>
          </a:solidFill>
        </a:fill>
      </a:tcStyle>
    </a:wholeTbl>
    <a:band2H>
      <a:tcTxStyle/>
      <a:tcStyle>
        <a:tcBdr/>
        <a:fill>
          <a:solidFill>
            <a:srgbClr val="FF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36"/>
    <p:restoredTop sz="94632"/>
  </p:normalViewPr>
  <p:slideViewPr>
    <p:cSldViewPr snapToGrid="0" snapToObjects="1">
      <p:cViewPr varScale="1">
        <p:scale>
          <a:sx n="131" d="100"/>
          <a:sy n="131" d="100"/>
        </p:scale>
        <p:origin x="176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352554"/>
            <a:ext cx="7086600" cy="1368822"/>
          </a:xfrm>
        </p:spPr>
        <p:txBody>
          <a:bodyPr anchor="b">
            <a:normAutofit/>
          </a:bodyPr>
          <a:lstStyle>
            <a:lvl1pPr algn="l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724151"/>
            <a:ext cx="7086600" cy="514350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3235746"/>
            <a:ext cx="2183130" cy="280982"/>
          </a:xfrm>
        </p:spPr>
        <p:txBody>
          <a:bodyPr/>
          <a:lstStyle/>
          <a:p>
            <a:fld id="{9AB3A824-1A51-4B26-AD58-A6D8E14F6C04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3242884"/>
            <a:ext cx="4800600" cy="273844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073150"/>
            <a:ext cx="2057400" cy="273844"/>
          </a:xfrm>
        </p:spPr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038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2502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65150"/>
            <a:ext cx="8115299" cy="2101451"/>
          </a:xfrm>
        </p:spPr>
        <p:txBody>
          <a:bodyPr anchor="b">
            <a:normAutofit/>
          </a:bodyPr>
          <a:lstStyle>
            <a:lvl1pPr algn="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2731294"/>
            <a:ext cx="7867650" cy="716756"/>
          </a:xfrm>
        </p:spPr>
        <p:txBody>
          <a:bodyPr>
            <a:normAutofit/>
          </a:bodyPr>
          <a:lstStyle>
            <a:lvl1pPr marL="0" indent="0" algn="r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3E5059C3-6A89-4494-99FF-5A4D6FFD50EB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1"/>
            <a:ext cx="5243619" cy="273049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384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645920"/>
            <a:ext cx="4000500" cy="30180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45920"/>
            <a:ext cx="4000500" cy="30180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2908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571500"/>
            <a:ext cx="6457950" cy="9715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7" y="1637852"/>
            <a:ext cx="3809993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349500"/>
            <a:ext cx="3983831" cy="23145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37852"/>
            <a:ext cx="3829050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49500"/>
            <a:ext cx="4000500" cy="23145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6936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78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5057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308610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560070"/>
            <a:ext cx="4882964" cy="410394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308610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1921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515493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563431"/>
            <a:ext cx="2733722" cy="410058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515493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282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3523021"/>
            <a:ext cx="8116526" cy="61451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706080"/>
            <a:ext cx="8116380" cy="260862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4137537"/>
            <a:ext cx="8115300" cy="526477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185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2101850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850"/>
            <a:ext cx="7597887" cy="749300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3CBC1C18-307B-4F68-A007-B5B542270E8D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5731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565150"/>
            <a:ext cx="7613650" cy="1953371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2524168"/>
            <a:ext cx="7194552" cy="3333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2969897"/>
            <a:ext cx="7613650" cy="509903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3CBC1C18-307B-4F68-A007-B5B542270E8D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357188" y="70008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02596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4234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1" y="843526"/>
            <a:ext cx="7609640" cy="188387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237"/>
            <a:ext cx="7608491" cy="74991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4163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3CBC1C18-307B-4F68-A007-B5B542270E8D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163"/>
            <a:ext cx="5243619" cy="273844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8226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79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51560"/>
            <a:ext cx="2592324" cy="46299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165099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178050"/>
            <a:ext cx="2592324" cy="24859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164464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0972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15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3" y="3143250"/>
            <a:ext cx="2588687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3" y="1771650"/>
            <a:ext cx="2588687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3" y="3655323"/>
            <a:ext cx="2588687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8" y="3143250"/>
            <a:ext cx="2586701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1771650"/>
            <a:ext cx="2586702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699" y="3655323"/>
            <a:ext cx="2586701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3143250"/>
            <a:ext cx="2592352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1" y="1771650"/>
            <a:ext cx="258590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3655321"/>
            <a:ext cx="2589334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3580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1645920"/>
            <a:ext cx="8115300" cy="301809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3121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558800"/>
            <a:ext cx="1543050" cy="292735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558800"/>
            <a:ext cx="6153151" cy="29273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4956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D3FFE419-2371-464F-8239-3959401C3561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0"/>
            <a:ext cx="5243619" cy="273844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96196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65213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573280"/>
            <a:ext cx="6457950" cy="969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45920"/>
            <a:ext cx="8115300" cy="301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1/15/22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52081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matrix.com/blog/advertising-for-small-business/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54"/>
          <p:cNvSpPr/>
          <p:nvPr/>
        </p:nvSpPr>
        <p:spPr>
          <a:xfrm rot="10800000" flipH="1">
            <a:off x="-1" y="0"/>
            <a:ext cx="9163201" cy="514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6564" y="0"/>
                </a:lnTo>
                <a:lnTo>
                  <a:pt x="21600" y="8964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0" name="Shape 55"/>
          <p:cNvSpPr/>
          <p:nvPr/>
        </p:nvSpPr>
        <p:spPr>
          <a:xfrm>
            <a:off x="537899" y="1895175"/>
            <a:ext cx="3953102" cy="1376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35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</a:lstStyle>
          <a:p>
            <a:r>
              <a:t>Sprocket Central Pty Ltd</a:t>
            </a:r>
          </a:p>
        </p:txBody>
      </p:sp>
      <p:sp>
        <p:nvSpPr>
          <p:cNvPr id="111" name="Shape 56"/>
          <p:cNvSpPr/>
          <p:nvPr/>
        </p:nvSpPr>
        <p:spPr>
          <a:xfrm>
            <a:off x="537900" y="3315475"/>
            <a:ext cx="5550600" cy="525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t>Data analytics approach</a:t>
            </a:r>
          </a:p>
        </p:txBody>
      </p:sp>
      <p:pic>
        <p:nvPicPr>
          <p:cNvPr id="112" name="Shape 57" descr="Shape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00" y="1275524"/>
            <a:ext cx="1982300" cy="238701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Shape 58"/>
          <p:cNvSpPr/>
          <p:nvPr/>
        </p:nvSpPr>
        <p:spPr>
          <a:xfrm>
            <a:off x="537900" y="3666599"/>
            <a:ext cx="6249600" cy="36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rPr dirty="0"/>
              <a:t>Junior Consultant</a:t>
            </a:r>
            <a:r>
              <a:rPr lang="en-AU" dirty="0"/>
              <a:t>: Jatinder Singh Malhi</a:t>
            </a:r>
            <a:endParaRPr dirty="0"/>
          </a:p>
        </p:txBody>
      </p:sp>
      <p:sp>
        <p:nvSpPr>
          <p:cNvPr id="114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63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7" name="Shape 64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Agenda</a:t>
            </a:r>
          </a:p>
        </p:txBody>
      </p:sp>
      <p:sp>
        <p:nvSpPr>
          <p:cNvPr id="118" name="Shape 65"/>
          <p:cNvSpPr/>
          <p:nvPr/>
        </p:nvSpPr>
        <p:spPr>
          <a:xfrm>
            <a:off x="343874" y="1211200"/>
            <a:ext cx="5459402" cy="1578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rPr dirty="0">
                <a:solidFill>
                  <a:schemeClr val="bg1"/>
                </a:solidFill>
              </a:rPr>
              <a:t>Introduction</a:t>
            </a: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rPr dirty="0">
                <a:solidFill>
                  <a:schemeClr val="bg1"/>
                </a:solidFill>
              </a:rPr>
              <a:t>Data Exploration</a:t>
            </a: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rPr dirty="0">
                <a:solidFill>
                  <a:schemeClr val="bg1"/>
                </a:solidFill>
              </a:rPr>
              <a:t>Model Development</a:t>
            </a: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rPr dirty="0">
                <a:solidFill>
                  <a:schemeClr val="bg1"/>
                </a:solidFill>
              </a:rPr>
              <a:t>Interpretation</a:t>
            </a:r>
          </a:p>
        </p:txBody>
      </p:sp>
      <p:sp>
        <p:nvSpPr>
          <p:cNvPr id="119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70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2" name="Shape 71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Introduction</a:t>
            </a:r>
          </a:p>
        </p:txBody>
      </p:sp>
      <p:sp>
        <p:nvSpPr>
          <p:cNvPr id="123" name="Shape 72"/>
          <p:cNvSpPr/>
          <p:nvPr/>
        </p:nvSpPr>
        <p:spPr>
          <a:xfrm>
            <a:off x="205025" y="1083299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AU" dirty="0"/>
              <a:t>Data Cleaning</a:t>
            </a:r>
            <a:endParaRPr dirty="0"/>
          </a:p>
        </p:txBody>
      </p:sp>
      <p:sp>
        <p:nvSpPr>
          <p:cNvPr id="124" name="Shape 73"/>
          <p:cNvSpPr/>
          <p:nvPr/>
        </p:nvSpPr>
        <p:spPr>
          <a:xfrm>
            <a:off x="205025" y="2164724"/>
            <a:ext cx="4134600" cy="1229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AU" dirty="0">
                <a:solidFill>
                  <a:schemeClr val="bg1"/>
                </a:solidFill>
              </a:rPr>
              <a:t>Missing values dropped</a:t>
            </a:r>
          </a:p>
          <a:p>
            <a:r>
              <a:rPr lang="en-AU" dirty="0">
                <a:solidFill>
                  <a:schemeClr val="bg1"/>
                </a:solidFill>
              </a:rPr>
              <a:t>Columns formatted for analysis</a:t>
            </a:r>
          </a:p>
          <a:p>
            <a:r>
              <a:rPr lang="en-AU" dirty="0">
                <a:solidFill>
                  <a:schemeClr val="bg1"/>
                </a:solidFill>
              </a:rPr>
              <a:t>Datasets joined for the better investigation process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127" name="Shape 74"/>
          <p:cNvGrpSpPr/>
          <p:nvPr/>
        </p:nvGrpSpPr>
        <p:grpSpPr>
          <a:xfrm>
            <a:off x="4969974" y="2164724"/>
            <a:ext cx="3800702" cy="2649302"/>
            <a:chOff x="0" y="0"/>
            <a:chExt cx="3800700" cy="2649300"/>
          </a:xfrm>
        </p:grpSpPr>
        <p:sp>
          <p:nvSpPr>
            <p:cNvPr id="125" name="Rectangle"/>
            <p:cNvSpPr/>
            <p:nvPr/>
          </p:nvSpPr>
          <p:spPr>
            <a:xfrm>
              <a:off x="-1" y="-1"/>
              <a:ext cx="3800702" cy="2649302"/>
            </a:xfrm>
            <a:prstGeom prst="rect">
              <a:avLst/>
            </a:prstGeom>
            <a:solidFill>
              <a:srgbClr val="EEEEE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666666"/>
                  </a:solidFill>
                </a:defRPr>
              </a:pPr>
              <a:endParaRPr/>
            </a:p>
          </p:txBody>
        </p:sp>
        <p:sp>
          <p:nvSpPr>
            <p:cNvPr id="126" name="Place any supporting images, graphs, data or extra text here."/>
            <p:cNvSpPr/>
            <p:nvPr/>
          </p:nvSpPr>
          <p:spPr>
            <a:xfrm>
              <a:off x="-1" y="1032933"/>
              <a:ext cx="3800702" cy="5834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>
                <a:defRPr>
                  <a:solidFill>
                    <a:srgbClr val="666666"/>
                  </a:solidFill>
                </a:defRPr>
              </a:lvl1pPr>
            </a:lstStyle>
            <a:p>
              <a:r>
                <a:t>Place any supporting images, graphs, data or extra text here.</a:t>
              </a:r>
            </a:p>
          </p:txBody>
        </p:sp>
      </p:grpSp>
      <p:sp>
        <p:nvSpPr>
          <p:cNvPr id="128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pic>
        <p:nvPicPr>
          <p:cNvPr id="3" name="Picture 2" descr="Graph">
            <a:extLst>
              <a:ext uri="{FF2B5EF4-FFF2-40B4-BE49-F238E27FC236}">
                <a16:creationId xmlns:a16="http://schemas.microsoft.com/office/drawing/2014/main" id="{A8D918EF-FAE8-7F4B-8815-33CACC168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145" y="2164723"/>
            <a:ext cx="3840480" cy="283762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205025" y="1083299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AU" dirty="0"/>
              <a:t>Gender Percentage</a:t>
            </a:r>
            <a:endParaRPr dirty="0"/>
          </a:p>
        </p:txBody>
      </p:sp>
      <p:sp>
        <p:nvSpPr>
          <p:cNvPr id="137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pic>
        <p:nvPicPr>
          <p:cNvPr id="4" name="Picture 3" descr="A picture containing electronics&#10;&#10;Description automatically generated">
            <a:extLst>
              <a:ext uri="{FF2B5EF4-FFF2-40B4-BE49-F238E27FC236}">
                <a16:creationId xmlns:a16="http://schemas.microsoft.com/office/drawing/2014/main" id="{65E7BF54-E447-6246-B777-E7DCC9660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83" y="1599626"/>
            <a:ext cx="3365500" cy="3136900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AF8EB47A-93F3-3044-B160-724A8FC2A3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454" y="1599626"/>
            <a:ext cx="3111500" cy="31369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205025" y="1083299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AU" dirty="0"/>
              <a:t>Job Industry Category Percentage</a:t>
            </a:r>
            <a:endParaRPr dirty="0"/>
          </a:p>
        </p:txBody>
      </p:sp>
      <p:sp>
        <p:nvSpPr>
          <p:cNvPr id="137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pic>
        <p:nvPicPr>
          <p:cNvPr id="4" name="Picture 3" descr="Chart, pie chart&#10;&#10;Description automatically generated">
            <a:extLst>
              <a:ext uri="{FF2B5EF4-FFF2-40B4-BE49-F238E27FC236}">
                <a16:creationId xmlns:a16="http://schemas.microsoft.com/office/drawing/2014/main" id="{98925934-8024-9C40-9CE7-A0088DF30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206" y="1599626"/>
            <a:ext cx="3528906" cy="2497535"/>
          </a:xfrm>
          <a:prstGeom prst="rect">
            <a:avLst/>
          </a:prstGeom>
        </p:spPr>
      </p:pic>
      <p:pic>
        <p:nvPicPr>
          <p:cNvPr id="7" name="Picture 6" descr="Chart, pie chart&#10;&#10;Description automatically generated">
            <a:extLst>
              <a:ext uri="{FF2B5EF4-FFF2-40B4-BE49-F238E27FC236}">
                <a16:creationId xmlns:a16="http://schemas.microsoft.com/office/drawing/2014/main" id="{C29BBE4F-9F92-954D-B3CF-E732A9ADF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75" y="1511135"/>
            <a:ext cx="3800516" cy="258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033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205025" y="1083299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AU" dirty="0"/>
              <a:t>State with Age Distribution</a:t>
            </a:r>
            <a:endParaRPr dirty="0"/>
          </a:p>
        </p:txBody>
      </p:sp>
      <p:sp>
        <p:nvSpPr>
          <p:cNvPr id="137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39A2830F-FE7C-0D45-BD9D-A40779B7F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801" y="1599626"/>
            <a:ext cx="4106968" cy="2831717"/>
          </a:xfrm>
          <a:prstGeom prst="rect">
            <a:avLst/>
          </a:prstGeom>
        </p:spPr>
      </p:pic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1401F15C-9BDC-5946-A479-F61184A4E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25" y="1639614"/>
            <a:ext cx="4023026" cy="283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503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205025" y="1083299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AU" dirty="0"/>
              <a:t>Wealth Segment with Age Distribution</a:t>
            </a:r>
            <a:endParaRPr dirty="0"/>
          </a:p>
        </p:txBody>
      </p:sp>
      <p:sp>
        <p:nvSpPr>
          <p:cNvPr id="137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0C13F035-FD47-5842-A7F1-939D122AE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689327"/>
            <a:ext cx="3882879" cy="2572280"/>
          </a:xfrm>
          <a:prstGeom prst="rect">
            <a:avLst/>
          </a:prstGeom>
        </p:spPr>
      </p:pic>
      <p:pic>
        <p:nvPicPr>
          <p:cNvPr id="8" name="Picture 7" descr="Chart, bar chart&#10;&#10;Description automatically generated">
            <a:extLst>
              <a:ext uri="{FF2B5EF4-FFF2-40B4-BE49-F238E27FC236}">
                <a16:creationId xmlns:a16="http://schemas.microsoft.com/office/drawing/2014/main" id="{0CA797A5-8CB6-0448-B258-FC576C8793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93" y="1689327"/>
            <a:ext cx="4060272" cy="26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833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205025" y="1083299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AU" dirty="0"/>
              <a:t>Gender Distribution with Wealth Segment</a:t>
            </a:r>
            <a:endParaRPr dirty="0"/>
          </a:p>
        </p:txBody>
      </p:sp>
      <p:sp>
        <p:nvSpPr>
          <p:cNvPr id="137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pic>
        <p:nvPicPr>
          <p:cNvPr id="8" name="Picture 7" descr="Chart, bar chart&#10;&#10;Description automatically generated">
            <a:extLst>
              <a:ext uri="{FF2B5EF4-FFF2-40B4-BE49-F238E27FC236}">
                <a16:creationId xmlns:a16="http://schemas.microsoft.com/office/drawing/2014/main" id="{69B9CF2B-22E7-FA4B-9113-DAF6C1E55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825" y="1701654"/>
            <a:ext cx="3696741" cy="3177871"/>
          </a:xfrm>
          <a:prstGeom prst="rect">
            <a:avLst/>
          </a:prstGeom>
        </p:spPr>
      </p:pic>
      <p:pic>
        <p:nvPicPr>
          <p:cNvPr id="10" name="Picture 9" descr="Chart, bar chart&#10;&#10;Description automatically generated">
            <a:extLst>
              <a:ext uri="{FF2B5EF4-FFF2-40B4-BE49-F238E27FC236}">
                <a16:creationId xmlns:a16="http://schemas.microsoft.com/office/drawing/2014/main" id="{74574CEE-6323-B34C-8414-44030EBDF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06" y="1701655"/>
            <a:ext cx="3363247" cy="317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6895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205025" y="1083299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AU" dirty="0"/>
              <a:t>Gender Distribution with Job Industry Category</a:t>
            </a:r>
            <a:endParaRPr dirty="0"/>
          </a:p>
        </p:txBody>
      </p:sp>
      <p:sp>
        <p:nvSpPr>
          <p:cNvPr id="137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931B6F7C-783E-8445-B295-D38AAB48D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75" y="1473119"/>
            <a:ext cx="3443134" cy="3406407"/>
          </a:xfrm>
          <a:prstGeom prst="rect">
            <a:avLst/>
          </a:prstGeom>
        </p:spPr>
      </p:pic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3B6B00B9-FE75-5840-937E-82BB38C36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825" y="1540963"/>
            <a:ext cx="3443134" cy="339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0006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205025" y="1083299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AU" dirty="0"/>
              <a:t>Car Owner Distribution with Job Industry Category</a:t>
            </a:r>
            <a:endParaRPr dirty="0"/>
          </a:p>
        </p:txBody>
      </p:sp>
      <p:sp>
        <p:nvSpPr>
          <p:cNvPr id="137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82CEA17E-A837-AD4F-91FF-F5D920E38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85" y="1695931"/>
            <a:ext cx="3377097" cy="3341075"/>
          </a:xfrm>
          <a:prstGeom prst="rect">
            <a:avLst/>
          </a:prstGeom>
        </p:spPr>
      </p:pic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D4A4DC13-C933-B34C-AEC3-C99130B92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052" y="1701462"/>
            <a:ext cx="3457882" cy="341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09149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205025" y="1083299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AU" dirty="0"/>
              <a:t>Gender Distribution with Last 3 Years Bike Purchase</a:t>
            </a:r>
            <a:endParaRPr dirty="0"/>
          </a:p>
        </p:txBody>
      </p:sp>
      <p:sp>
        <p:nvSpPr>
          <p:cNvPr id="137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4E54D6BE-B95D-1D48-8C7E-8A382C205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25" y="1676604"/>
            <a:ext cx="4197369" cy="2902658"/>
          </a:xfrm>
          <a:prstGeom prst="rect">
            <a:avLst/>
          </a:prstGeom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A5B21035-D65C-9248-8DE4-42551D70DA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394" y="1676604"/>
            <a:ext cx="4235443" cy="320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0378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88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40" name="Shape 89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Model Development</a:t>
            </a:r>
          </a:p>
        </p:txBody>
      </p:sp>
      <p:sp>
        <p:nvSpPr>
          <p:cNvPr id="141" name="Shape 90"/>
          <p:cNvSpPr/>
          <p:nvPr/>
        </p:nvSpPr>
        <p:spPr>
          <a:xfrm>
            <a:off x="205025" y="1083299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AU" dirty="0"/>
              <a:t>Target Customers</a:t>
            </a:r>
            <a:endParaRPr dirty="0"/>
          </a:p>
        </p:txBody>
      </p:sp>
      <p:sp>
        <p:nvSpPr>
          <p:cNvPr id="142" name="Shape 91"/>
          <p:cNvSpPr/>
          <p:nvPr/>
        </p:nvSpPr>
        <p:spPr>
          <a:xfrm>
            <a:off x="205025" y="1607526"/>
            <a:ext cx="4134600" cy="4905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603250" lvl="1">
              <a:lnSpc>
                <a:spcPct val="115000"/>
              </a:lnSpc>
              <a:buClr>
                <a:schemeClr val="dk1"/>
              </a:buClr>
              <a:buSzPts val="1500"/>
            </a:pPr>
            <a:endParaRPr lang="en-AU" dirty="0">
              <a:solidFill>
                <a:schemeClr val="dk1"/>
              </a:solidFill>
            </a:endParaRPr>
          </a:p>
          <a:p>
            <a:pPr marL="965200" lvl="1" indent="-361950">
              <a:buClr>
                <a:schemeClr val="dk1"/>
              </a:buClr>
              <a:buSzPts val="1500"/>
              <a:buFont typeface="Wingdings" pitchFamily="2" charset="2"/>
              <a:buChar char="Ø"/>
            </a:pPr>
            <a:r>
              <a:rPr lang="en-AU" sz="15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(GENDER) </a:t>
            </a:r>
            <a:r>
              <a:rPr lang="en-AU" sz="15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Female</a:t>
            </a:r>
          </a:p>
          <a:p>
            <a:pPr marL="965200" lvl="1" indent="-361950">
              <a:buClr>
                <a:schemeClr val="dk1"/>
              </a:buClr>
              <a:buSzPts val="1500"/>
              <a:buFont typeface="Wingdings" pitchFamily="2" charset="2"/>
              <a:buChar char="Ø"/>
            </a:pPr>
            <a:endParaRPr lang="en-AU" sz="15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65200" lvl="1" indent="-361950">
              <a:buClr>
                <a:schemeClr val="dk1"/>
              </a:buClr>
              <a:buSzPts val="1500"/>
              <a:buFont typeface="Wingdings" pitchFamily="2" charset="2"/>
              <a:buChar char="Ø"/>
            </a:pPr>
            <a:r>
              <a:rPr lang="en-AU" sz="15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(AGE) </a:t>
            </a:r>
            <a:r>
              <a:rPr lang="en-AU" sz="15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Aged between 40 –60.</a:t>
            </a:r>
          </a:p>
          <a:p>
            <a:pPr marL="965200" lvl="1" indent="-361950">
              <a:buClr>
                <a:schemeClr val="dk1"/>
              </a:buClr>
              <a:buSzPts val="1500"/>
              <a:buFont typeface="Wingdings" pitchFamily="2" charset="2"/>
              <a:buChar char="Ø"/>
            </a:pPr>
            <a:endParaRPr lang="en-AU" sz="15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65200" lvl="1" indent="-361950">
              <a:buClr>
                <a:schemeClr val="dk1"/>
              </a:buClr>
              <a:buSzPts val="1500"/>
              <a:buFont typeface="Wingdings" pitchFamily="2" charset="2"/>
              <a:buChar char="Ø"/>
            </a:pPr>
            <a:r>
              <a:rPr lang="en-AU" sz="15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(WEALTH SEGMENT) </a:t>
            </a:r>
            <a:r>
              <a:rPr lang="en-AU" sz="15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Mass customers</a:t>
            </a:r>
          </a:p>
          <a:p>
            <a:pPr marL="965200" lvl="1" indent="-361950">
              <a:buClr>
                <a:schemeClr val="dk1"/>
              </a:buClr>
              <a:buSzPts val="1500"/>
              <a:buFont typeface="Wingdings" pitchFamily="2" charset="2"/>
              <a:buChar char="Ø"/>
            </a:pPr>
            <a:endParaRPr lang="en-AU" sz="15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65200" lvl="1" indent="-361950">
              <a:buClr>
                <a:schemeClr val="dk1"/>
              </a:buClr>
              <a:buSzPts val="1500"/>
              <a:buFont typeface="Wingdings" pitchFamily="2" charset="2"/>
              <a:buChar char="Ø"/>
            </a:pPr>
            <a:r>
              <a:rPr lang="en-AU" sz="15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(SECTOR) </a:t>
            </a:r>
            <a:r>
              <a:rPr lang="en-AU" sz="15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Financial Service, Manufacturing and Health.</a:t>
            </a:r>
          </a:p>
          <a:p>
            <a:pPr marL="889000" lvl="1" indent="-285750">
              <a:buClr>
                <a:schemeClr val="dk1"/>
              </a:buClr>
              <a:buSzPts val="1500"/>
              <a:buFont typeface="Wingdings" pitchFamily="2" charset="2"/>
              <a:buChar char="Ø"/>
            </a:pPr>
            <a:endParaRPr lang="en-AU" sz="15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65200" lvl="1" indent="-361950">
              <a:buClr>
                <a:schemeClr val="dk1"/>
              </a:buClr>
              <a:buSzPts val="1500"/>
              <a:buFont typeface="Wingdings" pitchFamily="2" charset="2"/>
              <a:buChar char="Ø"/>
            </a:pPr>
            <a:r>
              <a:rPr lang="en-AU" sz="15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(AREA) </a:t>
            </a:r>
            <a:r>
              <a:rPr lang="en-AU" sz="15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New South Wales and Victoria.</a:t>
            </a:r>
          </a:p>
          <a:p>
            <a:pPr marL="603250" lvl="1">
              <a:buClr>
                <a:schemeClr val="dk1"/>
              </a:buClr>
              <a:buSzPts val="1500"/>
            </a:pPr>
            <a:endParaRPr lang="en-AU" sz="15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65200" lvl="1" indent="-361950">
              <a:buClr>
                <a:schemeClr val="dk1"/>
              </a:buClr>
              <a:buSzPts val="1500"/>
              <a:buFont typeface="Open Sans"/>
              <a:buChar char="❑"/>
            </a:pPr>
            <a:endParaRPr lang="en-AU" sz="15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65200" lvl="1" indent="-361950">
              <a:buClr>
                <a:schemeClr val="dk1"/>
              </a:buClr>
              <a:buSzPts val="1500"/>
              <a:buFont typeface="Open Sans"/>
              <a:buChar char="❑"/>
            </a:pPr>
            <a:endParaRPr lang="en-AU" sz="15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65200" lvl="1" indent="-361950">
              <a:buClr>
                <a:schemeClr val="dk1"/>
              </a:buClr>
              <a:buSzPts val="1500"/>
              <a:buFont typeface="Open Sans"/>
              <a:buChar char="❑"/>
            </a:pPr>
            <a:endParaRPr lang="en-AU" sz="15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65200" lvl="0"/>
            <a:endParaRPr lang="en-AU" dirty="0">
              <a:solidFill>
                <a:schemeClr val="dk1"/>
              </a:solidFill>
            </a:endParaRPr>
          </a:p>
          <a:p>
            <a:pPr marL="603250" lvl="1">
              <a:lnSpc>
                <a:spcPct val="115000"/>
              </a:lnSpc>
              <a:buClr>
                <a:schemeClr val="dk1"/>
              </a:buClr>
              <a:buSzPts val="1500"/>
            </a:pPr>
            <a:endParaRPr lang="en-AU" sz="15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65200" lvl="0"/>
            <a:endParaRPr lang="en-AU" dirty="0">
              <a:solidFill>
                <a:schemeClr val="dk1"/>
              </a:solidFill>
            </a:endParaRPr>
          </a:p>
        </p:txBody>
      </p:sp>
      <p:sp>
        <p:nvSpPr>
          <p:cNvPr id="146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pic>
        <p:nvPicPr>
          <p:cNvPr id="3" name="Picture 2" descr="A close-up of a magnifying glass&#10;&#10;Description automatically generated with medium confidence">
            <a:extLst>
              <a:ext uri="{FF2B5EF4-FFF2-40B4-BE49-F238E27FC236}">
                <a16:creationId xmlns:a16="http://schemas.microsoft.com/office/drawing/2014/main" id="{1726AA46-4D91-3841-853F-76E0BBA11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15710" y="1203392"/>
            <a:ext cx="3048000" cy="3048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97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49" name="Shape 98"/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Interpretation</a:t>
            </a:r>
          </a:p>
        </p:txBody>
      </p:sp>
      <p:sp>
        <p:nvSpPr>
          <p:cNvPr id="150" name="Shape 99"/>
          <p:cNvSpPr/>
          <p:nvPr/>
        </p:nvSpPr>
        <p:spPr>
          <a:xfrm>
            <a:off x="205025" y="803130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AU" dirty="0">
                <a:solidFill>
                  <a:schemeClr val="bg1"/>
                </a:solidFill>
              </a:rPr>
              <a:t>Valuable</a:t>
            </a:r>
            <a:r>
              <a:rPr lang="en-AU" dirty="0"/>
              <a:t> </a:t>
            </a:r>
            <a:r>
              <a:rPr lang="en-AU" dirty="0">
                <a:solidFill>
                  <a:schemeClr val="bg1"/>
                </a:solidFill>
              </a:rPr>
              <a:t>Customers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5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0E7448BE-00CD-5045-8EE1-966C78106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849244"/>
              </p:ext>
            </p:extLst>
          </p:nvPr>
        </p:nvGraphicFramePr>
        <p:xfrm>
          <a:off x="373375" y="1247950"/>
          <a:ext cx="8049168" cy="25044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149881">
                  <a:extLst>
                    <a:ext uri="{9D8B030D-6E8A-4147-A177-3AD203B41FA5}">
                      <a16:colId xmlns:a16="http://schemas.microsoft.com/office/drawing/2014/main" val="2949778383"/>
                    </a:ext>
                  </a:extLst>
                </a:gridCol>
                <a:gridCol w="1149881">
                  <a:extLst>
                    <a:ext uri="{9D8B030D-6E8A-4147-A177-3AD203B41FA5}">
                      <a16:colId xmlns:a16="http://schemas.microsoft.com/office/drawing/2014/main" val="768333795"/>
                    </a:ext>
                  </a:extLst>
                </a:gridCol>
                <a:gridCol w="1030650">
                  <a:extLst>
                    <a:ext uri="{9D8B030D-6E8A-4147-A177-3AD203B41FA5}">
                      <a16:colId xmlns:a16="http://schemas.microsoft.com/office/drawing/2014/main" val="3956164336"/>
                    </a:ext>
                  </a:extLst>
                </a:gridCol>
                <a:gridCol w="1139563">
                  <a:extLst>
                    <a:ext uri="{9D8B030D-6E8A-4147-A177-3AD203B41FA5}">
                      <a16:colId xmlns:a16="http://schemas.microsoft.com/office/drawing/2014/main" val="3377198267"/>
                    </a:ext>
                  </a:extLst>
                </a:gridCol>
                <a:gridCol w="1279431">
                  <a:extLst>
                    <a:ext uri="{9D8B030D-6E8A-4147-A177-3AD203B41FA5}">
                      <a16:colId xmlns:a16="http://schemas.microsoft.com/office/drawing/2014/main" val="2703509126"/>
                    </a:ext>
                  </a:extLst>
                </a:gridCol>
                <a:gridCol w="1149881">
                  <a:extLst>
                    <a:ext uri="{9D8B030D-6E8A-4147-A177-3AD203B41FA5}">
                      <a16:colId xmlns:a16="http://schemas.microsoft.com/office/drawing/2014/main" val="2301810049"/>
                    </a:ext>
                  </a:extLst>
                </a:gridCol>
                <a:gridCol w="1149881">
                  <a:extLst>
                    <a:ext uri="{9D8B030D-6E8A-4147-A177-3AD203B41FA5}">
                      <a16:colId xmlns:a16="http://schemas.microsoft.com/office/drawing/2014/main" val="3950742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Bike Related Purchases for the last 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Job Industry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Wealth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Own Cars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93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000" b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FillTx/>
                          <a:sym typeface="Arial"/>
                        </a:rPr>
                        <a:t>Manufacturing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Mass 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NSW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485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000" b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FillTx/>
                          <a:sym typeface="Arial"/>
                        </a:rPr>
                        <a:t>Financial Services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Mass Customer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NSW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139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000" b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FillTx/>
                          <a:sym typeface="Arial"/>
                        </a:rPr>
                        <a:t>Health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Mass Customer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NSW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797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000" b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FillTx/>
                          <a:sym typeface="Arial"/>
                        </a:rPr>
                        <a:t>Entertainment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Mass Customer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NSW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703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000" b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FillTx/>
                          <a:sym typeface="Arial"/>
                        </a:rPr>
                        <a:t>IT 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Mass Customer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NSW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64802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06"/>
          <p:cNvSpPr/>
          <p:nvPr/>
        </p:nvSpPr>
        <p:spPr>
          <a:xfrm rot="10800000" flipH="1">
            <a:off x="-1" y="0"/>
            <a:ext cx="9163201" cy="514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6564" y="0"/>
                </a:lnTo>
                <a:lnTo>
                  <a:pt x="21600" y="8964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chemeClr val="tx1"/>
              </a:gs>
              <a:gs pos="100000">
                <a:schemeClr val="bg1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58" name="Shape 107"/>
          <p:cNvSpPr/>
          <p:nvPr/>
        </p:nvSpPr>
        <p:spPr>
          <a:xfrm>
            <a:off x="537899" y="1895175"/>
            <a:ext cx="3953102" cy="723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35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</a:lstStyle>
          <a:p>
            <a:r>
              <a:rPr lang="en-AU" dirty="0"/>
              <a:t>Thank You</a:t>
            </a:r>
            <a:endParaRPr dirty="0"/>
          </a:p>
        </p:txBody>
      </p:sp>
      <p:sp>
        <p:nvSpPr>
          <p:cNvPr id="159" name="Note: The data and information in this document is reflective of a hypothetical situation and client. This document is to be used for KPMG Virtual Internship purposes only."/>
          <p:cNvSpPr/>
          <p:nvPr/>
        </p:nvSpPr>
        <p:spPr>
          <a:xfrm>
            <a:off x="-6201" y="-6350"/>
            <a:ext cx="9175601" cy="2387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defTabSz="457200">
              <a:defRPr sz="500" b="1">
                <a:latin typeface="Calibri"/>
                <a:ea typeface="Calibri"/>
                <a:cs typeface="Calibri"/>
                <a:sym typeface="Calibri"/>
              </a:defRPr>
            </a:pPr>
            <a:r>
              <a:t>       Note: </a:t>
            </a:r>
            <a:r>
              <a:rPr b="0"/>
              <a:t>The data and information in this document is reflective of a hypothetical situation and client. This document is to be used for KPMG Virtual Internship purposes only.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{5FD96470-ECC8-C74F-9414-6CE162DFB00F}tf10001079</Template>
  <TotalTime>133</TotalTime>
  <Words>661</Words>
  <Application>Microsoft Macintosh PowerPoint</Application>
  <PresentationFormat>On-screen Show (16:9)</PresentationFormat>
  <Paragraphs>106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Century Gothic</vt:lpstr>
      <vt:lpstr>Open Sans</vt:lpstr>
      <vt:lpstr>Open Sans ExtraBold</vt:lpstr>
      <vt:lpstr>Open Sans Light</vt:lpstr>
      <vt:lpstr>Wingdings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Jack Malhi</cp:lastModifiedBy>
  <cp:revision>5</cp:revision>
  <dcterms:modified xsi:type="dcterms:W3CDTF">2022-01-14T14:23:52Z</dcterms:modified>
</cp:coreProperties>
</file>